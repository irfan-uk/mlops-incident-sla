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EDB03-E92A-1319-90A4-C995845EF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8FD91-456F-D052-E5F2-774939346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A7B4C-84C6-63B7-5108-32553B2C2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566B6-3E6E-0DB8-0B63-102C0F614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1F5DD-7543-A6B1-63E6-D5121584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714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221C8-2EB4-F1D1-2059-2508DFDF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189B-2ECD-B1F3-0A9A-D6AE5B8F6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09E6E-0AAF-DB5E-0C82-575B1EF38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0BA66-9456-7350-A73B-4F9342D42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ADC1A-C314-6ACF-C664-29FD84C9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334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192A-8B30-34AF-1421-978FC984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A1842-D34E-0EE3-D8EC-5155547CE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EAF24-4883-F4D8-BB00-6BE716BD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B8251-636D-7681-4CE5-1AE2C1B4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51349-03A5-6A1E-49A5-7F0FA0F5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282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92C3-2FFD-7F39-91DD-4AE154A2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C4A91-5099-9506-20C3-9DE3E1108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F7073-50FD-2FDB-ACEF-B00C269F3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CF213-0F6A-2A19-E18D-887953D38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193E0-322F-66B5-7832-C545E29E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6C82A-0192-E33D-B91B-61942418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4822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F5B9-FE1E-3AB9-7987-210E391C9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6A7B7-9FC4-BD3F-0334-CDF01D11D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12450-2853-7AD3-362F-FCDCACD13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7A21B-71E5-9514-F116-738E048FA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B40356-100B-5FEA-E705-F34D351F64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CD5F3-A9A9-42BE-5F23-301F74F9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BA8F7-0CC3-E2D5-A7A9-A11510527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343C6D-B3DD-FD49-B85D-1A89331D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2750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4FA9-7DB1-2D3C-4B8E-235DC8EF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3434F-18DF-D319-033A-BFC70A4CF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9AB33-C75F-E254-1269-FE96C5B1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8580E-E06F-04C4-4E26-8BD9577B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442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5DF197-AEB7-50D9-65E3-1843B70CE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780DC-59DE-6AF2-F4C3-15DA6270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16A1E-093A-66AC-F626-97F279D2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575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ABCE-9AC2-3B4B-8644-E774C8BD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DC175-0CD6-CB0B-E4B6-54208ED7E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AA2C9-665F-40D8-6486-BB85D80E2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4CF1F-53EE-9DAF-E41D-EB10F4B5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C4E8-128E-A56D-9920-C38CABB5F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238B3-04D4-47D5-0727-945AF41A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945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8C1C-723D-416A-CEE7-0EA61E0C1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B5395C-FB9A-821A-AEA3-1752CDBFCF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F75D1-0B86-300F-7F27-FCBA4ACD6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81BB9-EB0A-4189-9AC8-2FAC75A2F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03DD3-99F0-4FE7-01E7-8A453892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80ABF-5232-9EE2-D11F-5B7585A5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687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403D-07D4-377D-C4AF-BA49B274A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CC820-17BE-28D3-A631-CA22D187A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DB92E-CCED-9534-E24E-B57A185F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9E312-2D96-6FF1-3E21-8F89F6F09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663B4-D069-B1AC-5744-5033464D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8994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D4C58-C4B3-A59F-61BE-CB93E54787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82766-C3A9-26EC-DD2B-91A9FECEC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AD847-2395-D069-B22F-B1BF624A1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3D079-DCDB-5FBE-C3CD-0B5CD6071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4D58-4F68-04A7-0CA0-15AA8AB9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6731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8283C8-9AEC-C9E8-75B7-AAD8B8914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0D10F-714F-54E2-81A4-364D93A14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4A0C5-7BAE-645C-ED1E-86ABDB438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3E31D-22E7-483D-9699-90EA41DB4FCE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510CB-60D4-2736-C932-865BB7CC3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84803-1EF6-BE64-213B-00E16552D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5A7E1-1947-4462-BD46-E1A3574143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183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1387-BAFB-8604-0814-5B8156162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89239"/>
            <a:ext cx="9144000" cy="1976284"/>
          </a:xfrm>
        </p:spPr>
        <p:txBody>
          <a:bodyPr>
            <a:normAutofit fontScale="90000"/>
          </a:bodyPr>
          <a:lstStyle/>
          <a:p>
            <a:r>
              <a:rPr lang="en-PK" dirty="0"/>
              <a:t>Predicting SLA Breaches in IT Incident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509534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A630-E675-6457-077C-050692D72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Context and Dataset Relevance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CBC33-FC40-C65A-6493-D35B1F59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78213" cy="435133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Problem Statement</a:t>
            </a:r>
            <a:br>
              <a:rPr lang="en-US" dirty="0"/>
            </a:br>
            <a:r>
              <a:rPr lang="en-US" dirty="0"/>
              <a:t>Service Level Agreements (SLAs) define response and resolution deadlines for IT incidents.</a:t>
            </a:r>
            <a:br>
              <a:rPr lang="en-US" dirty="0"/>
            </a:br>
            <a:r>
              <a:rPr lang="en-US" dirty="0"/>
              <a:t>When breached, they cause operational inefficiency and customer dissatisfaction.</a:t>
            </a:r>
          </a:p>
          <a:p>
            <a:r>
              <a:rPr lang="en-US" b="1" dirty="0"/>
              <a:t>Objective</a:t>
            </a:r>
            <a:br>
              <a:rPr lang="en-US" dirty="0"/>
            </a:br>
            <a:r>
              <a:rPr lang="en-US" dirty="0"/>
              <a:t>Prepare and </a:t>
            </a:r>
            <a:r>
              <a:rPr lang="en-US" dirty="0" err="1"/>
              <a:t>analyse</a:t>
            </a:r>
            <a:r>
              <a:rPr lang="en-US" dirty="0"/>
              <a:t> a large-scale incident dataset to identify workload and timing factors that lead to SLA failures.</a:t>
            </a:r>
          </a:p>
          <a:p>
            <a:r>
              <a:rPr lang="en-US" b="1" dirty="0"/>
              <a:t>Dataset Overview</a:t>
            </a:r>
            <a:endParaRPr lang="en-US" dirty="0"/>
          </a:p>
          <a:p>
            <a:pPr lvl="1"/>
            <a:r>
              <a:rPr lang="en-US" dirty="0"/>
              <a:t>Source: Kaggle – </a:t>
            </a:r>
            <a:r>
              <a:rPr lang="en-US" i="1" dirty="0"/>
              <a:t>Incident Event Log Dataset</a:t>
            </a:r>
            <a:endParaRPr lang="en-US" dirty="0"/>
          </a:p>
          <a:p>
            <a:pPr lvl="1"/>
            <a:r>
              <a:rPr lang="en-US" dirty="0"/>
              <a:t>Size: 141 712 records × 37 columns</a:t>
            </a:r>
          </a:p>
          <a:p>
            <a:pPr lvl="1"/>
            <a:r>
              <a:rPr lang="en-US" dirty="0"/>
              <a:t>Scope: Incident lifecycle – creation → assignment → resolution → closure</a:t>
            </a:r>
          </a:p>
          <a:p>
            <a:r>
              <a:rPr lang="en-US" b="1" dirty="0"/>
              <a:t>Relevance</a:t>
            </a:r>
            <a:br>
              <a:rPr lang="en-US" dirty="0"/>
            </a:br>
            <a:r>
              <a:rPr lang="en-US" dirty="0"/>
              <a:t>The dataset captures </a:t>
            </a:r>
            <a:r>
              <a:rPr lang="en-US" b="1" dirty="0"/>
              <a:t>real service-desk operations</a:t>
            </a:r>
            <a:r>
              <a:rPr lang="en-US" dirty="0"/>
              <a:t>—perfect for studying ticket flow, workload complexity, and SLA compliance within an MLOps context.</a:t>
            </a:r>
          </a:p>
          <a:p>
            <a:endParaRPr lang="en-PK" dirty="0"/>
          </a:p>
        </p:txBody>
      </p:sp>
      <p:pic>
        <p:nvPicPr>
          <p:cNvPr id="1026" name="Picture 2" descr="Service level agreements in Cloud computing - GeeksforGeeks">
            <a:extLst>
              <a:ext uri="{FF2B5EF4-FFF2-40B4-BE49-F238E27FC236}">
                <a16:creationId xmlns:a16="http://schemas.microsoft.com/office/drawing/2014/main" id="{8DBA364C-1CC5-33EC-0F35-F72278530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413" y="2290916"/>
            <a:ext cx="3372463" cy="292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54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F7C14-8702-436B-DF12-358EB4CE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Exploration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BF863-39AC-CAFE-B036-5A4EF40CA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0187" cy="4351338"/>
          </a:xfrm>
        </p:spPr>
        <p:txBody>
          <a:bodyPr/>
          <a:lstStyle/>
          <a:p>
            <a:r>
              <a:rPr lang="en-US" sz="2000" b="1" dirty="0"/>
              <a:t>Structure Insights</a:t>
            </a:r>
            <a:endParaRPr lang="en-US" sz="2000" dirty="0"/>
          </a:p>
          <a:p>
            <a:pPr lvl="1"/>
            <a:r>
              <a:rPr lang="en-US" sz="2000" dirty="0"/>
              <a:t>Incident states: 9 types (New, Active, Resolved, Closed …)</a:t>
            </a:r>
          </a:p>
          <a:p>
            <a:pPr lvl="1"/>
            <a:r>
              <a:rPr lang="en-US" sz="2000" dirty="0"/>
              <a:t>SLA success rate: 93.5 % | breach rate: 6.5 %</a:t>
            </a:r>
          </a:p>
          <a:p>
            <a:pPr lvl="1"/>
            <a:r>
              <a:rPr lang="en-US" sz="2000" dirty="0"/>
              <a:t>Numeric metrics: reassignments, reopens, modifications</a:t>
            </a:r>
          </a:p>
          <a:p>
            <a:pPr lvl="1"/>
            <a:r>
              <a:rPr lang="en-US" sz="2000" dirty="0"/>
              <a:t>No missing or duplicate entries detected</a:t>
            </a:r>
          </a:p>
          <a:p>
            <a:r>
              <a:rPr lang="en-US" sz="2000" b="1" dirty="0"/>
              <a:t>Initial Observations</a:t>
            </a:r>
          </a:p>
          <a:p>
            <a:pPr marL="457200" lvl="1" indent="0">
              <a:buNone/>
            </a:pPr>
            <a:r>
              <a:rPr lang="en-US" sz="2000" dirty="0"/>
              <a:t>High reassignment and modification counts often accompany breached tickets, implying operational bottlenecks.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71AD43-87AF-3F5D-1BE5-088C0E8BA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87" y="1942270"/>
            <a:ext cx="4650658" cy="343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7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D5C0-7D45-CABF-F62E-57841F4A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Feature Construction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FE455-CEE9-6ECC-0765-8AAB2A256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6097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/>
              <a:t>Preprocessing Steps</a:t>
            </a:r>
            <a:endParaRPr lang="en-US" sz="2600" dirty="0"/>
          </a:p>
          <a:p>
            <a:r>
              <a:rPr lang="en-US" sz="2600" dirty="0"/>
              <a:t>Converted timestamps (</a:t>
            </a:r>
            <a:r>
              <a:rPr lang="en-US" sz="2600" dirty="0" err="1"/>
              <a:t>opened_at</a:t>
            </a:r>
            <a:r>
              <a:rPr lang="en-US" sz="2600" dirty="0"/>
              <a:t>, </a:t>
            </a:r>
            <a:r>
              <a:rPr lang="en-US" sz="2600" dirty="0" err="1"/>
              <a:t>resolved_at</a:t>
            </a:r>
            <a:r>
              <a:rPr lang="en-US" sz="2600" dirty="0"/>
              <a:t>) → datetime</a:t>
            </a:r>
          </a:p>
          <a:p>
            <a:r>
              <a:rPr lang="en-US" sz="2600" dirty="0" err="1"/>
              <a:t>Normalised</a:t>
            </a:r>
            <a:r>
              <a:rPr lang="en-US" sz="2600" dirty="0"/>
              <a:t> </a:t>
            </a:r>
            <a:r>
              <a:rPr lang="en-US" sz="2600" dirty="0" err="1"/>
              <a:t>boolean</a:t>
            </a:r>
            <a:r>
              <a:rPr lang="en-US" sz="2600" dirty="0"/>
              <a:t> fields (active, </a:t>
            </a:r>
            <a:r>
              <a:rPr lang="en-US" sz="2600" dirty="0" err="1"/>
              <a:t>made_sla</a:t>
            </a:r>
            <a:r>
              <a:rPr lang="en-US" sz="2600" dirty="0"/>
              <a:t>) to 0/1</a:t>
            </a:r>
          </a:p>
          <a:p>
            <a:r>
              <a:rPr lang="en-US" sz="2600" dirty="0"/>
              <a:t>Verified no duplicates or missing entries</a:t>
            </a:r>
          </a:p>
          <a:p>
            <a:r>
              <a:rPr lang="en-US" sz="2600" b="1" dirty="0"/>
              <a:t>Feature Engineering</a:t>
            </a:r>
            <a:endParaRPr lang="en-US" sz="2600" dirty="0"/>
          </a:p>
          <a:p>
            <a:r>
              <a:rPr lang="en-US" sz="2600" dirty="0"/>
              <a:t>Temporal fields: </a:t>
            </a:r>
            <a:r>
              <a:rPr lang="en-US" sz="2600" dirty="0" err="1"/>
              <a:t>open_hour</a:t>
            </a:r>
            <a:r>
              <a:rPr lang="en-US" sz="2600" dirty="0"/>
              <a:t>, </a:t>
            </a:r>
            <a:r>
              <a:rPr lang="en-US" sz="2600" dirty="0" err="1"/>
              <a:t>open_day</a:t>
            </a:r>
            <a:r>
              <a:rPr lang="en-US" sz="2600" dirty="0"/>
              <a:t>, </a:t>
            </a:r>
            <a:r>
              <a:rPr lang="en-US" sz="2600" dirty="0" err="1"/>
              <a:t>open_month</a:t>
            </a:r>
            <a:endParaRPr lang="en-US" sz="2600" dirty="0"/>
          </a:p>
          <a:p>
            <a:r>
              <a:rPr lang="en-US" sz="2600" dirty="0"/>
              <a:t>Target: </a:t>
            </a:r>
            <a:r>
              <a:rPr lang="en-US" sz="2600" dirty="0" err="1"/>
              <a:t>sla_breach</a:t>
            </a:r>
            <a:r>
              <a:rPr lang="en-US" sz="2600" dirty="0"/>
              <a:t> (1 = breach)</a:t>
            </a:r>
          </a:p>
          <a:p>
            <a:r>
              <a:rPr lang="en-US" sz="2600" dirty="0"/>
              <a:t>Derived metrics: </a:t>
            </a:r>
            <a:r>
              <a:rPr lang="en-US" sz="2600" dirty="0" err="1"/>
              <a:t>workload_score</a:t>
            </a:r>
            <a:r>
              <a:rPr lang="en-US" sz="2600" dirty="0"/>
              <a:t>, </a:t>
            </a:r>
            <a:r>
              <a:rPr lang="en-US" sz="2600" dirty="0" err="1"/>
              <a:t>complexity_flag</a:t>
            </a:r>
            <a:r>
              <a:rPr lang="en-US" sz="2600" dirty="0"/>
              <a:t>, reassigned, reopened</a:t>
            </a:r>
          </a:p>
          <a:p>
            <a:r>
              <a:rPr lang="en-US" sz="2600" dirty="0"/>
              <a:t>Encoded categorical columns and scaled numeric values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542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77FA-561D-A45D-07C1-122DEEEE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Outcome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BA2C9-4E7D-69E7-505E-058037BE3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791632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/>
              <a:t>Key Findings</a:t>
            </a:r>
            <a:endParaRPr lang="en-US" sz="2600" dirty="0"/>
          </a:p>
          <a:p>
            <a:r>
              <a:rPr lang="en-US" sz="2600" dirty="0"/>
              <a:t>Breach likelihood increases with reassignment and reopen frequency</a:t>
            </a:r>
          </a:p>
          <a:p>
            <a:r>
              <a:rPr lang="en-US" sz="2600" dirty="0"/>
              <a:t>Complex tickets are ≈ 3× more likely to violate SLA</a:t>
            </a:r>
          </a:p>
          <a:p>
            <a:r>
              <a:rPr lang="en-US" sz="2600" dirty="0"/>
              <a:t>Most breached tickets close reactively → late resolution</a:t>
            </a:r>
          </a:p>
          <a:p>
            <a:r>
              <a:rPr lang="en-US" sz="2600" dirty="0"/>
              <a:t>Temporal factors (Feb 2016 – Feb 2017) show stable workload trends</a:t>
            </a:r>
          </a:p>
          <a:p>
            <a:r>
              <a:rPr lang="en-US" sz="2600" b="1" dirty="0"/>
              <a:t>Final Dataset Summary</a:t>
            </a:r>
            <a:br>
              <a:rPr lang="en-US" sz="2600" dirty="0"/>
            </a:br>
            <a:r>
              <a:rPr lang="en-US" sz="2600" dirty="0"/>
              <a:t>After processing, the dataset achieved full analytical readiness with:</a:t>
            </a:r>
            <a:br>
              <a:rPr lang="en-US" sz="2600" dirty="0"/>
            </a:br>
            <a:r>
              <a:rPr lang="en-US" sz="2600" dirty="0"/>
              <a:t>141 712 records, 50 features, 6.5 % breach rate</a:t>
            </a:r>
          </a:p>
          <a:p>
            <a:endParaRPr lang="en-PK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D66D9DF9-EE13-DCD8-EAEB-E34DE7228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006" y="2218301"/>
            <a:ext cx="4429084" cy="316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09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D425-91D0-C669-6647-A6E6A2DB5E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01944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339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Predicting SLA Breaches in IT Incident Management Systems</vt:lpstr>
      <vt:lpstr>Problem Context and Dataset Relevance</vt:lpstr>
      <vt:lpstr>Dataset Exploration</vt:lpstr>
      <vt:lpstr>Data Cleaning and Feature Construction</vt:lpstr>
      <vt:lpstr>Insights and Outcome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Zaman Ali</dc:creator>
  <cp:lastModifiedBy>Muhammad Zaman Ali</cp:lastModifiedBy>
  <cp:revision>2</cp:revision>
  <dcterms:created xsi:type="dcterms:W3CDTF">2025-10-31T06:05:00Z</dcterms:created>
  <dcterms:modified xsi:type="dcterms:W3CDTF">2025-10-31T06:06:46Z</dcterms:modified>
</cp:coreProperties>
</file>